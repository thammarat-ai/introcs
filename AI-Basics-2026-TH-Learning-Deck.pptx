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Noto Sans Thai"/>
        <a:cs typeface="Noto Sans Thai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Noto Sans Thai"/>
        <a:cs typeface="Noto Sans Thai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Noto Sans Thai"/>
        <a:cs typeface="Noto Sans Thai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Noto Sans Thai"/>
        <a:cs typeface="Noto Sans Thai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Noto Sans Thai"/>
        <a:cs typeface="Noto Sans Thai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Noto Sans Thai"/>
        <a:cs typeface="Noto Sans Thai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Noto Sans Thai"/>
        <a:cs typeface="Noto Sans Thai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Noto Sans Thai"/>
        <a:cs typeface="Noto Sans Thai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Noto Sans Thai"/>
        <a:cs typeface="Noto Sans Thai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Noto Sans Thai"/>
          <a:cs typeface="Noto Sans Thai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Noto Sans Thai"/>
          <a:cs typeface="Noto Sans Thai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Noto Sans Thai"/>
          <a:cs typeface="Noto Sans Thai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Noto Sans Thai"/>
          <a:cs typeface="Noto Sans Thai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Noto Sans Thai"/>
          <a:cs typeface="Noto Sans Thai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Noto Sans Thai"/>
          <a:cs typeface="Noto Sans Thai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Noto Sans Thai"/>
          <a:cs typeface="Noto Sans Thai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Noto Sans Thai"/>
          <a:cs typeface="Noto Sans Thai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Noto Sans Thai"/>
          <a:cs typeface="Noto Sans Thai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Noto Sans Thai"/>
          <a:cs typeface="Noto Sans Thai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Noto Sans Thai"/>
          <a:cs typeface="Noto Sans Thai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Noto Sans Thai"/>
          <a:cs typeface="Noto Sans Thai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Noto Sans Thai"/>
          <a:cs typeface="Noto Sans Thai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Noto Sans Thai"/>
          <a:cs typeface="Noto Sans Thai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Noto Sans Thai"/>
          <a:cs typeface="Noto Sans Thai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Noto Sans Thai"/>
          <a:cs typeface="Noto Sans Thai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Noto Sans Thai"/>
          <a:cs typeface="Noto Sans Thai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Noto Sans Thai"/>
          <a:cs typeface="Noto Sans Thai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Noto Sans Thai"/>
          <a:cs typeface="Noto Sans Thai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Image field"/>
          <p:cNvSpPr/>
          <p:nvPr/>
        </p:nvSpPr>
        <p:spPr>
          <a:xfrm>
            <a:off x="6172200" y="0"/>
            <a:ext cx="6019800" cy="6858000"/>
          </a:xfrm>
          <a:prstGeom prst="rect">
            <a:avLst/>
          </a:prstGeom>
          <a:solidFill>
            <a:srgbClr val="F9F8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ction label"/>
          <p:cNvSpPr txBox="1"/>
          <p:nvPr/>
        </p:nvSpPr>
        <p:spPr>
          <a:xfrm>
            <a:off x="685800" y="1104900"/>
            <a:ext cx="49530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PLO7 • AI BASICS 2026</a:t>
            </a:r>
          </a:p>
        </p:txBody>
      </p:sp>
      <p:sp>
        <p:nvSpPr>
          <p:cNvPr id="4" name="Cover image accent"/>
          <p:cNvSpPr/>
          <p:nvPr/>
        </p:nvSpPr>
        <p:spPr>
          <a:xfrm>
            <a:off x="685800" y="3028950"/>
            <a:ext cx="533400" cy="47625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276600"/>
            <a:ext cx="499110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131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67300"/>
            <a:ext cx="4629150" cy="800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เข้าใจหลักการ • ใช้เป็น • ตรวจสอบได้ • ออกแบบอย่างรับผิดชอบ</a:t>
            </a:r>
          </a:p>
        </p:txBody>
      </p:sp>
      <p:pic>
        <p:nvPicPr>
          <p:cNvPr id="7" name="Cover image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300" y="2129079"/>
            <a:ext cx="4762500" cy="2599841"/>
          </a:xfrm>
          <a:prstGeom prst="roundRect">
            <a:avLst>
              <a:gd name="adj" fmla="val 4396"/>
            </a:avLst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ผลลัพธ์การเรียนรู้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เมื่อจบบทเรียน คุณจะทำได้ 5 อย่าง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526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1336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แยก AI • ML • DL • GenAI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66700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95275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อธิบายวงจรชีวิตโมเดล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34861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85800" y="3790949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7719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เลือก Prompt • RAG • Agent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430530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85800" y="46101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59105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ตรวจคำตอบและความเสี่ยง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51244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85800" y="54292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4102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สร้าง AI ไทยที่มีคนกำกับ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1047749"/>
            <a:ext cx="8572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บทที่ 1 • AI คืออะไร</a:t>
            </a:r>
          </a:p>
        </p:txBody>
      </p:sp>
      <p:sp>
        <p:nvSpPr>
          <p:cNvPr id="3" name="Claim accent"/>
          <p:cNvSpPr/>
          <p:nvPr/>
        </p:nvSpPr>
        <p:spPr>
          <a:xfrm>
            <a:off x="685800" y="2381250"/>
            <a:ext cx="533400" cy="47625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628900"/>
            <a:ext cx="10287000" cy="2000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5304"/>
              </a:lnSpc>
              <a:spcBef>
                <a:spcPts val="0"/>
              </a:spcBef>
              <a:spcAft>
                <a:spcPts val="0"/>
              </a:spcAft>
            </a:pPr>
            <a:r>
              <a:rPr sz="51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AI เรียนรู้รูปแบบ เพื่อทำนายและสร้าง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295900"/>
            <a:ext cx="7810499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“เรียนรู้” = ปรับพารามิเตอร์จากข้อมูล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ภาพรวมแนวคิด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AI เป็นวงใหญ่ — GenAI คือส่วนหนึ่งของระบบ</a:t>
            </a:r>
          </a:p>
        </p:txBody>
      </p:sp>
      <p:sp>
        <p:nvSpPr>
          <p:cNvPr id="5" name="Media frame"/>
          <p:cNvSpPr/>
          <p:nvPr/>
        </p:nvSpPr>
        <p:spPr>
          <a:xfrm>
            <a:off x="685800" y="2247900"/>
            <a:ext cx="5829300" cy="3943350"/>
          </a:xfrm>
          <a:prstGeom prst="roundRect">
            <a:avLst>
              <a:gd name="adj" fmla="val 289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Media image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28472"/>
            <a:ext cx="5829300" cy="3182205"/>
          </a:xfrm>
          <a:prstGeom prst="roundRect">
            <a:avLst>
              <a:gd name="adj" fmla="val 3591"/>
            </a:avLst>
          </a:prstGeom>
        </p:spPr>
      </p:pic>
      <p:sp>
        <p:nvSpPr>
          <p:cNvPr id="7" name="TextBox 6"/>
          <p:cNvSpPr txBox="1"/>
          <p:nvPr/>
        </p:nvSpPr>
        <p:spPr>
          <a:xfrm>
            <a:off x="6896100" y="2286000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10449" y="2266950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10449" y="2571750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เรียนความสัมพันธ์จากตัวอย่างข้อมูล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96100" y="3511549"/>
            <a:ext cx="46101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896100" y="3625849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10449" y="3606800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Deep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0449" y="3911600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ใช้โครงข่ายประสาทหลายชั้น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96100" y="4851399"/>
            <a:ext cx="46101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896100" y="4965699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10449" y="4946649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Generative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10449" y="5251449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สร้างข้อความ ภาพ เสียง วิดีโอ โค้ด และ 3D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เส้นทาง AI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จากกฎ if–then สู่โมเดลที่ใช้เครื่องมือ</a:t>
            </a:r>
          </a:p>
        </p:txBody>
      </p:sp>
      <p:cxnSp>
        <p:nvCxnSpPr>
          <p:cNvPr id="5" name="Timeline axis"/>
          <p:cNvCxnSpPr/>
          <p:nvPr/>
        </p:nvCxnSpPr>
        <p:spPr>
          <a:xfrm>
            <a:off x="1428750" y="3733799"/>
            <a:ext cx="9334500" cy="0"/>
          </a:xfrm>
          <a:prstGeom prst="line">
            <a:avLst/>
          </a:prstGeom>
          <a:ln w="19050">
            <a:solidFill>
              <a:srgbClr val="E6E5E3"/>
            </a:solidFill>
          </a:ln>
        </p:spPr>
      </p:cxnSp>
      <p:cxnSp>
        <p:nvCxnSpPr>
          <p:cNvPr id="6" name="Timeline progress"/>
          <p:cNvCxnSpPr/>
          <p:nvPr/>
        </p:nvCxnSpPr>
        <p:spPr>
          <a:xfrm>
            <a:off x="1428750" y="3733799"/>
            <a:ext cx="2333624" cy="0"/>
          </a:xfrm>
          <a:prstGeom prst="line">
            <a:avLst/>
          </a:prstGeom>
          <a:ln w="19050">
            <a:solidFill>
              <a:srgbClr val="2783DE"/>
            </a:solidFill>
          </a:ln>
        </p:spPr>
      </p:cxnSp>
      <p:sp>
        <p:nvSpPr>
          <p:cNvPr id="7" name="Timeline marker 1"/>
          <p:cNvSpPr/>
          <p:nvPr/>
        </p:nvSpPr>
        <p:spPr>
          <a:xfrm>
            <a:off x="1304925" y="3609975"/>
            <a:ext cx="247649" cy="247649"/>
          </a:xfrm>
          <a:prstGeom prst="ellipse">
            <a:avLst/>
          </a:prstGeom>
          <a:solidFill>
            <a:srgbClr val="2783DE"/>
          </a:solidFill>
          <a:ln w="19050">
            <a:solidFill>
              <a:srgbClr val="2783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6250" y="31051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1950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50" y="3962399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Turing Test</a:t>
            </a:r>
          </a:p>
        </p:txBody>
      </p:sp>
      <p:sp>
        <p:nvSpPr>
          <p:cNvPr id="10" name="Timeline marker 2"/>
          <p:cNvSpPr/>
          <p:nvPr/>
        </p:nvSpPr>
        <p:spPr>
          <a:xfrm>
            <a:off x="3638550" y="3609975"/>
            <a:ext cx="247649" cy="24764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7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09875" y="31051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1956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9375" y="3962399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Dartmouth และคำว่า AI</a:t>
            </a:r>
          </a:p>
        </p:txBody>
      </p:sp>
      <p:sp>
        <p:nvSpPr>
          <p:cNvPr id="13" name="Timeline marker 3"/>
          <p:cNvSpPr/>
          <p:nvPr/>
        </p:nvSpPr>
        <p:spPr>
          <a:xfrm>
            <a:off x="5972175" y="3609975"/>
            <a:ext cx="247649" cy="24764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7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43500" y="31051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2010s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3000" y="3962399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Big Data + GPU + Deep Learning</a:t>
            </a:r>
          </a:p>
        </p:txBody>
      </p:sp>
      <p:sp>
        <p:nvSpPr>
          <p:cNvPr id="16" name="Timeline marker 4"/>
          <p:cNvSpPr/>
          <p:nvPr/>
        </p:nvSpPr>
        <p:spPr>
          <a:xfrm>
            <a:off x="8305800" y="3609975"/>
            <a:ext cx="247649" cy="24764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7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7125" y="31051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2016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6625" y="3962399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AlphaGo</a:t>
            </a:r>
          </a:p>
        </p:txBody>
      </p:sp>
      <p:sp>
        <p:nvSpPr>
          <p:cNvPr id="19" name="Timeline marker 5"/>
          <p:cNvSpPr/>
          <p:nvPr/>
        </p:nvSpPr>
        <p:spPr>
          <a:xfrm>
            <a:off x="10639425" y="3609975"/>
            <a:ext cx="247649" cy="24764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7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10750" y="31051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2022–26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0250" y="3962399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GenAI, Multimodal, Reasoning, Agents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บทที่ 2 • AI ทำงานอย่างไร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วงจรชีวิตของระบบ AI</a:t>
            </a:r>
          </a:p>
        </p:txBody>
      </p:sp>
      <p:sp>
        <p:nvSpPr>
          <p:cNvPr id="5" name="Media frame"/>
          <p:cNvSpPr/>
          <p:nvPr/>
        </p:nvSpPr>
        <p:spPr>
          <a:xfrm>
            <a:off x="685800" y="2247900"/>
            <a:ext cx="5219700" cy="3943350"/>
          </a:xfrm>
          <a:prstGeom prst="roundRect">
            <a:avLst>
              <a:gd name="adj" fmla="val 289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Media image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94861"/>
            <a:ext cx="5219700" cy="2849426"/>
          </a:xfrm>
          <a:prstGeom prst="roundRect">
            <a:avLst>
              <a:gd name="adj" fmla="val 4011"/>
            </a:avLst>
          </a:prstGeom>
        </p:spPr>
      </p:pic>
      <p:cxnSp>
        <p:nvCxnSpPr>
          <p:cNvPr id="7" name="Connector 6"/>
          <p:cNvCxnSpPr/>
          <p:nvPr/>
        </p:nvCxnSpPr>
        <p:spPr>
          <a:xfrm>
            <a:off x="6505575" y="2667000"/>
            <a:ext cx="0" cy="312420"/>
          </a:xfrm>
          <a:prstGeom prst="line">
            <a:avLst/>
          </a:prstGeom>
          <a:ln w="19050">
            <a:solidFill>
              <a:srgbClr val="E6E5E3"/>
            </a:solidFill>
          </a:ln>
        </p:spPr>
      </p:cxnSp>
      <p:sp>
        <p:nvSpPr>
          <p:cNvPr id="8" name="Step 1 badge"/>
          <p:cNvSpPr/>
          <p:nvPr/>
        </p:nvSpPr>
        <p:spPr>
          <a:xfrm>
            <a:off x="6324600" y="22479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783DE"/>
          </a:solidFill>
          <a:ln w="19050">
            <a:solidFill>
              <a:srgbClr val="2783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0" y="2333625"/>
            <a:ext cx="3619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FFFFFF"/>
                </a:solidFill>
                <a:latin typeface="Arial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228850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82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นิยามปัญหา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533650"/>
            <a:ext cx="4648200" cy="31241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ใครใช้ ตัดสินใจอะไร และผิดแบบใดอันตราย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05575" y="3455670"/>
            <a:ext cx="0" cy="312420"/>
          </a:xfrm>
          <a:prstGeom prst="line">
            <a:avLst/>
          </a:prstGeom>
          <a:ln w="19050">
            <a:solidFill>
              <a:srgbClr val="E6E5E3"/>
            </a:solidFill>
          </a:ln>
        </p:spPr>
      </p:cxnSp>
      <p:sp>
        <p:nvSpPr>
          <p:cNvPr id="13" name="Step 2 badge"/>
          <p:cNvSpPr/>
          <p:nvPr/>
        </p:nvSpPr>
        <p:spPr>
          <a:xfrm>
            <a:off x="6324600" y="303657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4600" y="3122295"/>
            <a:ext cx="3619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017520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82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ข้อมูล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322320"/>
            <a:ext cx="4648200" cy="31241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ตรวจแหล่งที่มา สิทธิ คุณภาพ และความหลากหลาย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05575" y="4244340"/>
            <a:ext cx="0" cy="312420"/>
          </a:xfrm>
          <a:prstGeom prst="line">
            <a:avLst/>
          </a:prstGeom>
          <a:ln w="19050">
            <a:solidFill>
              <a:srgbClr val="E6E5E3"/>
            </a:solidFill>
          </a:ln>
        </p:spPr>
      </p:cxnSp>
      <p:sp>
        <p:nvSpPr>
          <p:cNvPr id="18" name="Step 3 badge"/>
          <p:cNvSpPr/>
          <p:nvPr/>
        </p:nvSpPr>
        <p:spPr>
          <a:xfrm>
            <a:off x="6324600" y="382524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4600" y="3910965"/>
            <a:ext cx="3619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806190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82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ฝึกและทดสอบ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110990"/>
            <a:ext cx="4648200" cy="31241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ลด loss และวัดกับข้อมูลที่ไม่เคยเห็น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05575" y="5033010"/>
            <a:ext cx="0" cy="312419"/>
          </a:xfrm>
          <a:prstGeom prst="line">
            <a:avLst/>
          </a:prstGeom>
          <a:ln w="19050">
            <a:solidFill>
              <a:srgbClr val="E6E5E3"/>
            </a:solidFill>
          </a:ln>
        </p:spPr>
      </p:cxnSp>
      <p:sp>
        <p:nvSpPr>
          <p:cNvPr id="23" name="Step 4 badge"/>
          <p:cNvSpPr/>
          <p:nvPr/>
        </p:nvSpPr>
        <p:spPr>
          <a:xfrm>
            <a:off x="6324600" y="461391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4600" y="4699635"/>
            <a:ext cx="3619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594859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82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นำไปใช้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899660"/>
            <a:ext cx="4648200" cy="31241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เชื่อมแอป ฐานข้อมูล หรืออุปกรณ์</a:t>
            </a:r>
          </a:p>
        </p:txBody>
      </p:sp>
      <p:sp>
        <p:nvSpPr>
          <p:cNvPr id="27" name="Step 5 badge"/>
          <p:cNvSpPr/>
          <p:nvPr/>
        </p:nvSpPr>
        <p:spPr>
          <a:xfrm>
            <a:off x="6324600" y="540258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4600" y="5488305"/>
            <a:ext cx="3619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383530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82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เฝ้าระวัง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688330"/>
            <a:ext cx="4648200" cy="31241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ติดตาม drift เหตุผิดปกติ และ feedback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TRAIN ≠ TEST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คะแนนดีในห้องทดลอง ยังไม่แปลว่าใช้จริงได้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52650"/>
            <a:ext cx="5219700" cy="3562350"/>
          </a:xfrm>
          <a:prstGeom prst="roundRect">
            <a:avLst>
              <a:gd name="adj" fmla="val 320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86500" y="2152650"/>
            <a:ext cx="5219700" cy="3562350"/>
          </a:xfrm>
          <a:prstGeom prst="roundRect">
            <a:avLst>
              <a:gd name="adj" fmla="val 320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04900" y="2571750"/>
            <a:ext cx="381000" cy="38100"/>
          </a:xfrm>
          <a:prstGeom prst="rect">
            <a:avLst/>
          </a:prstGeom>
          <a:solidFill>
            <a:srgbClr val="7D7A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05600" y="2571750"/>
            <a:ext cx="3810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4900" y="3028950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3562350"/>
            <a:ext cx="4381500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โมเดลเรียนจากข้อมูลฝึกและปรับพารามิเตอร์ให้ลดความผิดพลาด
ความเสี่ยง: จำข้อมูลฝึกมากเกินไป (overfitting)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3028950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3562350"/>
            <a:ext cx="4381500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วัดกับข้อมูลใหม่: ความแม่น ความทนทาน อคติ และความปลอดภัย
ห้ามปรับโมเดลจากชุดทดสอบ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LLM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โมเดลภาษา คือเครื่องทำนายโทเคนที่ทรงพลัง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81250"/>
            <a:ext cx="4953000" cy="1809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131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LLM ทำนาย token ถัดไป — ไม่ได้รับประกันข้อเท็จจริง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0530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/>
            </a:r>
          </a:p>
        </p:txBody>
      </p:sp>
      <p:sp>
        <p:nvSpPr>
          <p:cNvPr id="7" name="Section label"/>
          <p:cNvSpPr txBox="1"/>
          <p:nvPr/>
        </p:nvSpPr>
        <p:spPr>
          <a:xfrm>
            <a:off x="6191250" y="23812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PRETRAINING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0" y="26289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เรียนรูปแบบทั่วไปจากข้อมูลจำนวนมาก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91250" y="32385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0" name="Section label"/>
          <p:cNvSpPr txBox="1"/>
          <p:nvPr/>
        </p:nvSpPr>
        <p:spPr>
          <a:xfrm>
            <a:off x="6191250" y="33718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ALIGNMENT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0" y="36195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ปรับให้ทำตามคำสั่งและตอบอย่างเป็นประโยชน์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91250" y="42291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3" name="Section label"/>
          <p:cNvSpPr txBox="1"/>
          <p:nvPr/>
        </p:nvSpPr>
        <p:spPr>
          <a:xfrm>
            <a:off x="6191250" y="43624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CONTEXT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0" y="46101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ข้อมูลที่มองเห็นครั้งนี้ ไม่ใช่ความจำถาวร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91250" y="52197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6" name="Section label"/>
          <p:cNvSpPr txBox="1"/>
          <p:nvPr/>
        </p:nvSpPr>
        <p:spPr>
          <a:xfrm>
            <a:off x="6191250" y="53530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HALLUCINATION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1250" y="56007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คำตอบฟังสมเหตุผล แต่ผิดหรือไม่มีหลักฐาน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เลือกเครื่องมือให้ตรงงาน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Prompt → RAG → Agent: ความสามารถเพิ่ม ความเสี่ยงก็เพิ่ม</a:t>
            </a:r>
          </a:p>
        </p:txBody>
      </p:sp>
      <p:sp>
        <p:nvSpPr>
          <p:cNvPr id="5" name="Media frame"/>
          <p:cNvSpPr/>
          <p:nvPr/>
        </p:nvSpPr>
        <p:spPr>
          <a:xfrm>
            <a:off x="685800" y="2247900"/>
            <a:ext cx="5829300" cy="3943350"/>
          </a:xfrm>
          <a:prstGeom prst="roundRect">
            <a:avLst>
              <a:gd name="adj" fmla="val 289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Media image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80084"/>
            <a:ext cx="5829300" cy="3278981"/>
          </a:xfrm>
          <a:prstGeom prst="roundRect">
            <a:avLst>
              <a:gd name="adj" fmla="val 3485"/>
            </a:avLst>
          </a:prstGeom>
        </p:spPr>
      </p:pic>
      <p:sp>
        <p:nvSpPr>
          <p:cNvPr id="7" name="TextBox 6"/>
          <p:cNvSpPr txBox="1"/>
          <p:nvPr/>
        </p:nvSpPr>
        <p:spPr>
          <a:xfrm>
            <a:off x="6896100" y="2286000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10449" y="2266950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10449" y="2571750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กำหนดเป้าหมาย บริบท ข้อจำกัด และรูปแบบคำตอบ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96100" y="3511549"/>
            <a:ext cx="46101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896100" y="3625849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10449" y="3606800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0449" y="3911600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ค้นเอกสารก่อนตอบและแสดงหลักฐาน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96100" y="4851399"/>
            <a:ext cx="46101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896100" y="4965699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10449" y="4946649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10449" y="5251449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วางแผน เรียกเครื่องมือ ลงมือทำ — ต้องจำกัดสิทธิ์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PROMPTING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คำสั่งที่ดีมี 5 ส่วน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526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1336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เป้าหมาย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66700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95275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บริบท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34861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85800" y="3790949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7719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ข้อมูลนำเข้า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430530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85800" y="46101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59105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ข้อจำกัด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51244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85800" y="54292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4102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รูปแบบผลลัพธ์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AI AGENTS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AI ช่วยเตรียม — มนุษย์อนุมัติ — ระบบจึงลงมือ</a:t>
            </a:r>
          </a:p>
        </p:txBody>
      </p:sp>
      <p:sp>
        <p:nvSpPr>
          <p:cNvPr id="5" name="Media frame"/>
          <p:cNvSpPr/>
          <p:nvPr/>
        </p:nvSpPr>
        <p:spPr>
          <a:xfrm>
            <a:off x="685800" y="2247900"/>
            <a:ext cx="5829300" cy="3943350"/>
          </a:xfrm>
          <a:prstGeom prst="roundRect">
            <a:avLst>
              <a:gd name="adj" fmla="val 289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Media image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71545"/>
            <a:ext cx="5829300" cy="3296059"/>
          </a:xfrm>
          <a:prstGeom prst="roundRect">
            <a:avLst>
              <a:gd name="adj" fmla="val 3467"/>
            </a:avLst>
          </a:prstGeom>
        </p:spPr>
      </p:pic>
      <p:sp>
        <p:nvSpPr>
          <p:cNvPr id="7" name="TextBox 6"/>
          <p:cNvSpPr txBox="1"/>
          <p:nvPr/>
        </p:nvSpPr>
        <p:spPr>
          <a:xfrm>
            <a:off x="6896100" y="2286000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10449" y="2266950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Least privilege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10449" y="2571750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ให้สิทธิ์เท่าที่จำเป็นและแยกพื้นที่ทดลอง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96100" y="3511549"/>
            <a:ext cx="46101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896100" y="3625849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10449" y="3606800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Approval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0449" y="3911600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ขออนุมัติก่อนส่ง ลบ เผยแพร่ หรือชำระเงิน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96100" y="4851399"/>
            <a:ext cx="46101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896100" y="4965699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10449" y="4946649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Audit &amp; rollback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10449" y="5251449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บันทึกทุกการกระทำ หยุดและย้อนกลับได้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AI เพื่อการเรียน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ใช้เป็นคู่คิด ไม่ใช่ทางลัด</a:t>
            </a:r>
          </a:p>
        </p:txBody>
      </p:sp>
      <p:cxnSp>
        <p:nvCxnSpPr>
          <p:cNvPr id="5" name="Timeline axis"/>
          <p:cNvCxnSpPr/>
          <p:nvPr/>
        </p:nvCxnSpPr>
        <p:spPr>
          <a:xfrm>
            <a:off x="1428750" y="3733799"/>
            <a:ext cx="9334500" cy="0"/>
          </a:xfrm>
          <a:prstGeom prst="line">
            <a:avLst/>
          </a:prstGeom>
          <a:ln w="19050">
            <a:solidFill>
              <a:srgbClr val="E6E5E3"/>
            </a:solidFill>
          </a:ln>
        </p:spPr>
      </p:cxnSp>
      <p:cxnSp>
        <p:nvCxnSpPr>
          <p:cNvPr id="6" name="Timeline progress"/>
          <p:cNvCxnSpPr/>
          <p:nvPr/>
        </p:nvCxnSpPr>
        <p:spPr>
          <a:xfrm>
            <a:off x="1428750" y="3733799"/>
            <a:ext cx="3111500" cy="0"/>
          </a:xfrm>
          <a:prstGeom prst="line">
            <a:avLst/>
          </a:prstGeom>
          <a:ln w="19050">
            <a:solidFill>
              <a:srgbClr val="2783DE"/>
            </a:solidFill>
          </a:ln>
        </p:spPr>
      </p:cxnSp>
      <p:sp>
        <p:nvSpPr>
          <p:cNvPr id="7" name="Timeline marker 1"/>
          <p:cNvSpPr/>
          <p:nvPr/>
        </p:nvSpPr>
        <p:spPr>
          <a:xfrm>
            <a:off x="1304925" y="3609975"/>
            <a:ext cx="247649" cy="247649"/>
          </a:xfrm>
          <a:prstGeom prst="ellipse">
            <a:avLst/>
          </a:prstGeom>
          <a:solidFill>
            <a:srgbClr val="2783DE"/>
          </a:solidFill>
          <a:ln w="19050">
            <a:solidFill>
              <a:srgbClr val="2783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6250" y="31051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Learn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50" y="3962399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ขอภาพรวม</a:t>
            </a:r>
          </a:p>
        </p:txBody>
      </p:sp>
      <p:sp>
        <p:nvSpPr>
          <p:cNvPr id="10" name="Timeline marker 2"/>
          <p:cNvSpPr/>
          <p:nvPr/>
        </p:nvSpPr>
        <p:spPr>
          <a:xfrm>
            <a:off x="4416425" y="3609975"/>
            <a:ext cx="247649" cy="24764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7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7750" y="31051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7250" y="3962399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ลองทำเอง</a:t>
            </a:r>
          </a:p>
        </p:txBody>
      </p:sp>
      <p:sp>
        <p:nvSpPr>
          <p:cNvPr id="13" name="Timeline marker 3"/>
          <p:cNvSpPr/>
          <p:nvPr/>
        </p:nvSpPr>
        <p:spPr>
          <a:xfrm>
            <a:off x="7527925" y="3609975"/>
            <a:ext cx="247649" cy="24764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7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9250" y="31051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8750" y="3962399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ตรวจหลักฐาน</a:t>
            </a:r>
          </a:p>
        </p:txBody>
      </p:sp>
      <p:sp>
        <p:nvSpPr>
          <p:cNvPr id="16" name="Timeline marker 4"/>
          <p:cNvSpPr/>
          <p:nvPr/>
        </p:nvSpPr>
        <p:spPr>
          <a:xfrm>
            <a:off x="10639425" y="3609975"/>
            <a:ext cx="247649" cy="24764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7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10750" y="31051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Reflect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0" y="3962399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สรุปด้วยตนเอง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SIFT–AI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ตรวจคำตอบ AI ก่อนเชื่อและแชร์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33600"/>
            <a:ext cx="9525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ยิ่งผลกระทบสูง ยิ่งต้องใช้หลักฐานและผู้เชี่ยวชาญกำกับ</a:t>
            </a:r>
          </a:p>
        </p:txBody>
      </p:sp>
      <p:graphicFrame>
        <p:nvGraphicFramePr>
          <p:cNvPr id="6" name="Evidence table"/>
          <p:cNvGraphicFramePr>
            <a:graphicFrameLocks noGrp="1"/>
          </p:cNvGraphicFramePr>
          <p:nvPr/>
        </p:nvGraphicFramePr>
        <p:xfrm>
          <a:off x="685800" y="2667000"/>
          <a:ext cx="10820400" cy="2667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10200"/>
                <a:gridCol w="541020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  <a:ea typeface="Noto Sans Thai"/>
                          <a:cs typeface="Noto Sans Thai"/>
                        </a:rPr>
                        <a:t>ขั้น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  <a:ea typeface="Noto Sans Thai"/>
                          <a:cs typeface="Noto Sans Thai"/>
                        </a:rPr>
                        <a:t>คำถามตรวจสอบ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  <a:ea typeface="Noto Sans Thai"/>
                          <a:cs typeface="Noto Sans Thai"/>
                        </a:rPr>
                        <a:t>S — Stop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  <a:ea typeface="Noto Sans Thai"/>
                          <a:cs typeface="Noto Sans Thai"/>
                        </a:rPr>
                        <a:t>หยุดก่อนแชร์ โดยเฉพาะคำกล่าวอ้างแรงหรือข้อมูลส่วนบุคคล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  <a:ea typeface="Noto Sans Thai"/>
                          <a:cs typeface="Noto Sans Thai"/>
                        </a:rPr>
                        <a:t>I — Inspect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  <a:ea typeface="Noto Sans Thai"/>
                          <a:cs typeface="Noto Sans Thai"/>
                        </a:rPr>
                        <a:t>ใครให้ข้อมูล? เมื่อไร? มีหลักฐานหรือไม่?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  <a:ea typeface="Noto Sans Thai"/>
                          <a:cs typeface="Noto Sans Thai"/>
                        </a:rPr>
                        <a:t>F — Find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  <a:ea typeface="Noto Sans Thai"/>
                          <a:cs typeface="Noto Sans Thai"/>
                        </a:rPr>
                        <a:t>หาแหล่งปฐมภูมิหรืออีกอย่างน้อย 2 แหล่ง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  <a:ea typeface="Noto Sans Thai"/>
                          <a:cs typeface="Noto Sans Thai"/>
                        </a:rPr>
                        <a:t>T — Trace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  <a:ea typeface="Noto Sans Thai"/>
                          <a:cs typeface="Noto Sans Thai"/>
                        </a:rPr>
                        <a:t>ย้อนกลับสู่งานวิจัย กฎหมาย หรือข้อมูลต้นฉบับ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  <a:ea typeface="Noto Sans Thai"/>
                          <a:cs typeface="Noto Sans Thai"/>
                        </a:rPr>
                        <a:t>AI — Assess impact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  <a:ea typeface="Noto Sans Thai"/>
                          <a:cs typeface="Noto Sans Thai"/>
                        </a:rPr>
                        <a:t>ถ้าผิด ใครเสียหาย? ต้องให้ผู้เชี่ยวชาญตรวจหรือไม่?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บทที่ 4 • จากเดโมสู่งานจริง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AI สร้างคุณค่า เมื่อมนุษย์ยังรับผิดชอบ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81250"/>
            <a:ext cx="4953000" cy="1809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131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เริ่มจากปัญหา เกณฑ์สำเร็จ และผลเสียเมื่อระบบผิด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0530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/>
            </a:r>
          </a:p>
        </p:txBody>
      </p:sp>
      <p:sp>
        <p:nvSpPr>
          <p:cNvPr id="7" name="Section label"/>
          <p:cNvSpPr txBox="1"/>
          <p:nvPr/>
        </p:nvSpPr>
        <p:spPr>
          <a:xfrm>
            <a:off x="6191250" y="23812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การแพทย์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0" y="26289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AI คัดกรอง • มนุษย์วินิจฉัยและอธิบาย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91250" y="32385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0" name="Section label"/>
          <p:cNvSpPr txBox="1"/>
          <p:nvPr/>
        </p:nvSpPr>
        <p:spPr>
          <a:xfrm>
            <a:off x="6191250" y="33718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ขนส่ง + เกษตร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0" y="36195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AI พยากรณ์ • มนุษย์ตัดสินใจตามความปลอดภัยและพื้นที่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91250" y="42291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3" name="Section label"/>
          <p:cNvSpPr txBox="1"/>
          <p:nvPr/>
        </p:nvSpPr>
        <p:spPr>
          <a:xfrm>
            <a:off x="6191250" y="43624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งานสร้างสรรค์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0" y="46101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AI ทำต้นแบบ • มนุษย์กำกับสิทธิและเครดิต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91250" y="52197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6" name="Section label"/>
          <p:cNvSpPr txBox="1"/>
          <p:nvPr/>
        </p:nvSpPr>
        <p:spPr>
          <a:xfrm>
            <a:off x="6191250" y="53530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ซอฟต์แวร์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1250" y="56007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AI ร่างโค้ด • มนุษย์ review, test และ deploy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บทที่ 5 • ประเทศไทย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เป้าหมาย AI ของไทย ระยะสองปี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31432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685800" y="3390900"/>
            <a:ext cx="3251200" cy="819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585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10M+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438650"/>
            <a:ext cx="32512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ผู้ใช้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724400"/>
            <a:ext cx="3251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0400" y="3390900"/>
            <a:ext cx="3251200" cy="819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585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90,000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0400" y="4438650"/>
            <a:ext cx="32512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ผู้เชี่ยวชาญ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0400" y="4724400"/>
            <a:ext cx="3251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4999" y="3390900"/>
            <a:ext cx="3251200" cy="819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585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50,000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4999" y="4438650"/>
            <a:ext cx="32512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นักพัฒนา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4999" y="4724400"/>
            <a:ext cx="3251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/>
            </a:r>
          </a:p>
        </p:txBody>
      </p:sp>
      <p:cxnSp>
        <p:nvCxnSpPr>
          <p:cNvPr id="15" name="Footer rule"/>
          <p:cNvCxnSpPr/>
          <p:nvPr/>
        </p:nvCxnSpPr>
        <p:spPr>
          <a:xfrm>
            <a:off x="685800" y="61912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6" name="Footer"/>
          <p:cNvSpPr txBox="1"/>
          <p:nvPr/>
        </p:nvSpPr>
        <p:spPr>
          <a:xfrm>
            <a:off x="685800" y="63055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โอกาส: ภาษาไทย • เกษตร • ท่องเที่ยว • สุขภาพ • SMEs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บทที่ 6 • RESPONSIBLE AI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ความเสี่ยงต้องถูกออกแบบตั้งแต่วันแรก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2600" y="2400300"/>
            <a:ext cx="0" cy="321945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899400" y="2400300"/>
            <a:ext cx="0" cy="321945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685800" y="392430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495550"/>
            <a:ext cx="31115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76600"/>
            <a:ext cx="3111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ความถูกต้อง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62350"/>
            <a:ext cx="31115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2600" y="2495550"/>
            <a:ext cx="31115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2600" y="3276600"/>
            <a:ext cx="3111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อคติ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2600" y="3562350"/>
            <a:ext cx="31115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9400" y="2495550"/>
            <a:ext cx="31115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9400" y="3276600"/>
            <a:ext cx="3111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ข้อมูลลับ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9400" y="3562350"/>
            <a:ext cx="31115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95750"/>
            <a:ext cx="31115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76800"/>
            <a:ext cx="3111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Cybersecurity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162550"/>
            <a:ext cx="31115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2600" y="4095750"/>
            <a:ext cx="31115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2600" y="4876800"/>
            <a:ext cx="3111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สิทธิและลิขสิทธิ์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2600" y="5162550"/>
            <a:ext cx="31115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9400" y="4095750"/>
            <a:ext cx="31115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9400" y="4876800"/>
            <a:ext cx="3111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ผลกระทบต่อคน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9400" y="5162550"/>
            <a:ext cx="31115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การควบคุม AI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แยกความเสี่ยงที่เกิดแล้ว ออกจากความเสี่ยงอนาคต</a:t>
            </a:r>
          </a:p>
        </p:txBody>
      </p:sp>
      <p:sp>
        <p:nvSpPr>
          <p:cNvPr id="5" name="Media frame"/>
          <p:cNvSpPr/>
          <p:nvPr/>
        </p:nvSpPr>
        <p:spPr>
          <a:xfrm>
            <a:off x="685800" y="2247900"/>
            <a:ext cx="5829300" cy="3943350"/>
          </a:xfrm>
          <a:prstGeom prst="roundRect">
            <a:avLst>
              <a:gd name="adj" fmla="val 289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Media image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02855"/>
            <a:ext cx="5829300" cy="3233439"/>
          </a:xfrm>
          <a:prstGeom prst="roundRect">
            <a:avLst>
              <a:gd name="adj" fmla="val 3534"/>
            </a:avLst>
          </a:prstGeom>
        </p:spPr>
      </p:pic>
      <p:sp>
        <p:nvSpPr>
          <p:cNvPr id="7" name="TextBox 6"/>
          <p:cNvSpPr txBox="1"/>
          <p:nvPr/>
        </p:nvSpPr>
        <p:spPr>
          <a:xfrm>
            <a:off x="6896100" y="2286000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10449" y="2266950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เกิดขึ้นได้แล้ว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10449" y="2571750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ทำสิ่งที่ไม่ตั้งใจ หรือมนุษย์แทรกแซงไม่ทัน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96100" y="3511549"/>
            <a:ext cx="46101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896100" y="3625849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10449" y="3606800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ประเมินยากขึ้น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0449" y="3911600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reward hacking และสังเกตว่ากำลังถูกทดสอบ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96100" y="4851399"/>
            <a:ext cx="46101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896100" y="4965699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10449" y="4946649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อนาคตไม่แน่นอน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10449" y="5251449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Loss of Control ต้องอาศัยหลายความสามารถร่วมกัน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บทที่ 7 • แผนฝึก 30 วัน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จากผู้ใช้ สู่ผู้สร้างระบบที่ตรวจสอบได้</a:t>
            </a:r>
          </a:p>
        </p:txBody>
      </p:sp>
      <p:cxnSp>
        <p:nvCxnSpPr>
          <p:cNvPr id="5" name="Timeline axis"/>
          <p:cNvCxnSpPr/>
          <p:nvPr/>
        </p:nvCxnSpPr>
        <p:spPr>
          <a:xfrm>
            <a:off x="1428750" y="3733799"/>
            <a:ext cx="9334500" cy="0"/>
          </a:xfrm>
          <a:prstGeom prst="line">
            <a:avLst/>
          </a:prstGeom>
          <a:ln w="19050">
            <a:solidFill>
              <a:srgbClr val="E6E5E3"/>
            </a:solidFill>
          </a:ln>
        </p:spPr>
      </p:cxnSp>
      <p:cxnSp>
        <p:nvCxnSpPr>
          <p:cNvPr id="6" name="Timeline progress"/>
          <p:cNvCxnSpPr/>
          <p:nvPr/>
        </p:nvCxnSpPr>
        <p:spPr>
          <a:xfrm>
            <a:off x="1428750" y="3733799"/>
            <a:ext cx="3111500" cy="0"/>
          </a:xfrm>
          <a:prstGeom prst="line">
            <a:avLst/>
          </a:prstGeom>
          <a:ln w="19050">
            <a:solidFill>
              <a:srgbClr val="2783DE"/>
            </a:solidFill>
          </a:ln>
        </p:spPr>
      </p:cxnSp>
      <p:sp>
        <p:nvSpPr>
          <p:cNvPr id="7" name="Timeline marker 1"/>
          <p:cNvSpPr/>
          <p:nvPr/>
        </p:nvSpPr>
        <p:spPr>
          <a:xfrm>
            <a:off x="1304925" y="3609975"/>
            <a:ext cx="247649" cy="247649"/>
          </a:xfrm>
          <a:prstGeom prst="ellipse">
            <a:avLst/>
          </a:prstGeom>
          <a:solidFill>
            <a:srgbClr val="2783DE"/>
          </a:solidFill>
          <a:ln w="19050">
            <a:solidFill>
              <a:srgbClr val="2783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6250" y="31051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สัปดาห์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50" y="3962399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Prompt + ตรวจแหล่ง</a:t>
            </a:r>
          </a:p>
        </p:txBody>
      </p:sp>
      <p:sp>
        <p:nvSpPr>
          <p:cNvPr id="10" name="Timeline marker 2"/>
          <p:cNvSpPr/>
          <p:nvPr/>
        </p:nvSpPr>
        <p:spPr>
          <a:xfrm>
            <a:off x="4416425" y="3609975"/>
            <a:ext cx="247649" cy="24764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7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7750" y="31051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สัปดาห์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7250" y="3962399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Dataset + Train/Test</a:t>
            </a:r>
          </a:p>
        </p:txBody>
      </p:sp>
      <p:sp>
        <p:nvSpPr>
          <p:cNvPr id="13" name="Timeline marker 3"/>
          <p:cNvSpPr/>
          <p:nvPr/>
        </p:nvSpPr>
        <p:spPr>
          <a:xfrm>
            <a:off x="7527925" y="3609975"/>
            <a:ext cx="247649" cy="24764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7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9250" y="31051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สัปดาห์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8750" y="3962399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RAG ไทย + citation</a:t>
            </a:r>
          </a:p>
        </p:txBody>
      </p:sp>
      <p:sp>
        <p:nvSpPr>
          <p:cNvPr id="16" name="Timeline marker 4"/>
          <p:cNvSpPr/>
          <p:nvPr/>
        </p:nvSpPr>
        <p:spPr>
          <a:xfrm>
            <a:off x="10639425" y="3609975"/>
            <a:ext cx="247649" cy="24764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7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10750" y="31051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สัปดาห์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0" y="3962399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Tools + approval + evals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บทสรุป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คุณค่าของ AI อยู่ที่การออกแบบ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431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3241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เลือกวิธีให้เหมาะกับปัญหา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323850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35433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52425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วัดงานจริง ต้นทุน และความปลอดภัย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44386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85800" y="47434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7244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ใช้ AI ขยายความสามารถของมนุษย์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อ่านต่อ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แหล่งอ้างอิงหลัก</a:t>
            </a:r>
          </a:p>
        </p:txBody>
      </p:sp>
      <p:sp>
        <p:nvSpPr>
          <p:cNvPr id="5" name="Section label"/>
          <p:cNvSpPr txBox="1"/>
          <p:nvPr/>
        </p:nvSpPr>
        <p:spPr>
          <a:xfrm>
            <a:off x="685800" y="243840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STANFORD HAI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4003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Stanford HAI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2400300"/>
            <a:ext cx="3962399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79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AI Index Report 2025–2026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28003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9" name="Section label"/>
          <p:cNvSpPr txBox="1"/>
          <p:nvPr/>
        </p:nvSpPr>
        <p:spPr>
          <a:xfrm>
            <a:off x="685800" y="304800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AI THAILAND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30099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AI Thailand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3009900"/>
            <a:ext cx="3962399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79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National AI Strategy 2022–2027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34099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3" name="Section label"/>
          <p:cNvSpPr txBox="1"/>
          <p:nvPr/>
        </p:nvSpPr>
        <p:spPr>
          <a:xfrm>
            <a:off x="685800" y="365760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UNESCO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6195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UNESCO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619500"/>
            <a:ext cx="3962399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79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AI in Education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4019549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7" name="Section label"/>
          <p:cNvSpPr txBox="1"/>
          <p:nvPr/>
        </p:nvSpPr>
        <p:spPr>
          <a:xfrm>
            <a:off x="685800" y="426720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EUROPEAN COMMISSION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42291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European Commission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4229100"/>
            <a:ext cx="3962399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79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EU AI Act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46291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21" name="Section label"/>
          <p:cNvSpPr txBox="1"/>
          <p:nvPr/>
        </p:nvSpPr>
        <p:spPr>
          <a:xfrm>
            <a:off x="685800" y="487680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AI SAFETY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48387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AI Safety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4838700"/>
            <a:ext cx="3962399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79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International report 2026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52387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25" name="Section label"/>
          <p:cNvSpPr txBox="1"/>
          <p:nvPr/>
        </p:nvSpPr>
        <p:spPr>
          <a:xfrm>
            <a:off x="685800" y="548640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  <a:ea typeface="Noto Sans Thai"/>
                <a:cs typeface="Noto Sans Thai"/>
              </a:rPr>
              <a:t>NIST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54483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  <a:ea typeface="Noto Sans Thai"/>
                <a:cs typeface="Noto Sans Thai"/>
              </a:rPr>
              <a:t>NIST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5448300"/>
            <a:ext cx="3962399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79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AI Agent Standards Initiative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" y="58483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cxnSp>
        <p:nvCxnSpPr>
          <p:cNvPr id="29" name="Footer rule"/>
          <p:cNvCxnSpPr/>
          <p:nvPr/>
        </p:nvCxnSpPr>
        <p:spPr>
          <a:xfrm>
            <a:off x="685800" y="61912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30" name="Footer"/>
          <p:cNvSpPr txBox="1"/>
          <p:nvPr/>
        </p:nvSpPr>
        <p:spPr>
          <a:xfrm>
            <a:off x="685800" y="63055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7D7A75"/>
                </a:solidFill>
                <a:latin typeface="Arial"/>
                <a:ea typeface="Noto Sans Thai"/>
                <a:cs typeface="Noto Sans Thai"/>
              </a:rPr>
              <a:t>ตรวจสอบข้อมูลล่าสุดก่อนนำไปใช้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Noto Sans Thai"/>
        <a:cs typeface="Noto Sans Tha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Noto Sans Thai"/>
        <a:cs typeface="Noto Sans Tha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Notion Artifact Export</Application>
  <PresentationFormat>On-screen Show (16:9)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  <DocSecurity>0</DocSecurit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AI-Basics-2026-TH-Learning-Deck</dc:title>
  <dc:subject/>
  <dc:creator>Notion AI</dc:creator>
  <cp:keywords/>
  <dc:description>generated using python-pptx</dc:description>
  <cp:lastModifiedBy>Notion AI</cp:lastModifiedBy>
  <cp:revision>1</cp:revision>
  <dcterms:created xsi:type="dcterms:W3CDTF">2026-09-12T16:02:27Z</dcterms:created>
  <dcterms:modified xsi:type="dcterms:W3CDTF">2026-09-12T16:02:27Z</dcterms:modified>
  <cp:category/>
</cp:coreProperties>
</file>